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6" r:id="rId1"/>
  </p:sldMasterIdLst>
  <p:notesMasterIdLst>
    <p:notesMasterId r:id="rId7"/>
  </p:notesMasterIdLst>
  <p:sldIdLst>
    <p:sldId id="264" r:id="rId2"/>
    <p:sldId id="257" r:id="rId3"/>
    <p:sldId id="263" r:id="rId4"/>
    <p:sldId id="259" r:id="rId5"/>
    <p:sldId id="260" r:id="rId6"/>
  </p:sldIdLst>
  <p:sldSz cx="14630400" cy="8229600"/>
  <p:notesSz cx="8229600" cy="14630400"/>
  <p:embeddedFontLst>
    <p:embeddedFont>
      <p:font typeface="Source Sans 3" panose="020B0604020202020204" charset="0"/>
      <p:regular r:id="rId8"/>
    </p:embeddedFont>
    <p:embeddedFont>
      <p:font typeface="Calibri" panose="020F0502020204030204" pitchFamily="34" charset="0"/>
      <p:regular r:id="rId9"/>
      <p:bold r:id="rId10"/>
      <p:italic r:id="rId11"/>
      <p:boldItalic r:id="rId12"/>
    </p:embeddedFont>
    <p:embeddedFont>
      <p:font typeface="Consolas" panose="020B0609020204030204" pitchFamily="49" charset="0"/>
      <p:regular r:id="rId13"/>
      <p:bold r:id="rId14"/>
      <p:italic r:id="rId15"/>
      <p:boldItalic r:id="rId16"/>
    </p:embeddedFont>
    <p:embeddedFont>
      <p:font typeface="Calibri Light" panose="020F0302020204030204" pitchFamily="34" charset="0"/>
      <p:regular r:id="rId17"/>
      <p: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36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050629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32126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tr-TR"/>
              <a:t>Asıl başlık stili için tıklayın</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032980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tıklayın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638190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tr-TR"/>
              <a:t>Asıl başlık stili için tıklayın</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3886336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tıklayın</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42544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tr-TR"/>
              <a:t>Asıl başlık stili için tıklayın</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tr-TR"/>
              <a:t>Asıl metin stillerini düzenle</a:t>
            </a:r>
          </a:p>
        </p:txBody>
      </p:sp>
      <p:sp>
        <p:nvSpPr>
          <p:cNvPr id="4" name="Content Placeholder 3"/>
          <p:cNvSpPr>
            <a:spLocks noGrp="1"/>
          </p:cNvSpPr>
          <p:nvPr>
            <p:ph sz="half" idx="2"/>
          </p:nvPr>
        </p:nvSpPr>
        <p:spPr>
          <a:xfrm>
            <a:off x="1007746" y="3006090"/>
            <a:ext cx="6189344" cy="4421506"/>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tr-TR"/>
              <a:t>Asıl metin stillerini düzenle</a:t>
            </a:r>
          </a:p>
        </p:txBody>
      </p:sp>
      <p:sp>
        <p:nvSpPr>
          <p:cNvPr id="6" name="Content Placeholder 5"/>
          <p:cNvSpPr>
            <a:spLocks noGrp="1"/>
          </p:cNvSpPr>
          <p:nvPr>
            <p:ph sz="quarter" idx="4"/>
          </p:nvPr>
        </p:nvSpPr>
        <p:spPr>
          <a:xfrm>
            <a:off x="7406640" y="3006090"/>
            <a:ext cx="6219826" cy="4421506"/>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71474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tıklayın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6001597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664403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tr-TR"/>
              <a:t>Asıl başlık stili için tıklayın</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tr-TR"/>
              <a:t>Asıl metin stillerini düzenle</a:t>
            </a:r>
          </a:p>
        </p:txBody>
      </p:sp>
      <p:sp>
        <p:nvSpPr>
          <p:cNvPr id="5" name="Date Placeholder 4"/>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4492661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tr-TR"/>
              <a:t>Asıl başlık stili için tıklayın</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tr-TR"/>
              <a:t>Resim eklemek için simgeye tıklayın</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tr-TR"/>
              <a:t>Asıl metin stillerini düzenle</a:t>
            </a:r>
          </a:p>
        </p:txBody>
      </p:sp>
      <p:sp>
        <p:nvSpPr>
          <p:cNvPr id="5" name="Date Placeholder 4"/>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814792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594919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tr-TR"/>
              <a:t>Asıl başlık stili için tıklayın</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79357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4259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5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388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1135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840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tr-TR"/>
              <a:t>Asıl başlık stili için tıklayın</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12/29/2025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305003310"/>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6435258" y="2941863"/>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Bu proje, su kaynaklarının verimli yönetimi için modern sensör teknolojilerini ve yazılım entegrasyonunu bir araya getirir. Arduino tabanlı donanım ve Python tabanlı kullanıcı arayüzü ile su seviyesi ve yağmur durumu anlık olarak takip edilerek kayıt altına alınır.</a:t>
            </a:r>
            <a:endParaRPr lang="en-US" sz="1900" dirty="0"/>
          </a:p>
        </p:txBody>
      </p:sp>
      <p:pic>
        <p:nvPicPr>
          <p:cNvPr id="7" name="Resim 6"/>
          <p:cNvPicPr>
            <a:picLocks noChangeAspect="1"/>
          </p:cNvPicPr>
          <p:nvPr/>
        </p:nvPicPr>
        <p:blipFill>
          <a:blip r:embed="rId3"/>
          <a:stretch>
            <a:fillRect/>
          </a:stretch>
        </p:blipFill>
        <p:spPr>
          <a:xfrm>
            <a:off x="314657" y="1594884"/>
            <a:ext cx="5745749" cy="5060477"/>
          </a:xfrm>
          <a:prstGeom prst="rect">
            <a:avLst/>
          </a:prstGeom>
        </p:spPr>
      </p:pic>
      <p:sp>
        <p:nvSpPr>
          <p:cNvPr id="8" name="Dikdörtgen 7"/>
          <p:cNvSpPr/>
          <p:nvPr/>
        </p:nvSpPr>
        <p:spPr>
          <a:xfrm>
            <a:off x="6314858" y="2139368"/>
            <a:ext cx="7064648" cy="707886"/>
          </a:xfrm>
          <a:prstGeom prst="rect">
            <a:avLst/>
          </a:prstGeom>
        </p:spPr>
        <p:txBody>
          <a:bodyPr wrap="square">
            <a:spAutoFit/>
          </a:bodyPr>
          <a:lstStyle/>
          <a:p>
            <a:r>
              <a:rPr lang="es-ES" sz="4000" dirty="0">
                <a:latin typeface="Montserrat Bold"/>
              </a:rPr>
              <a:t>AKILLI </a:t>
            </a:r>
            <a:r>
              <a:rPr lang="tr-TR" sz="4000" dirty="0">
                <a:latin typeface="Montserrat Bold"/>
              </a:rPr>
              <a:t>DEPO SİSTEMİ</a:t>
            </a:r>
          </a:p>
        </p:txBody>
      </p:sp>
      <p:sp>
        <p:nvSpPr>
          <p:cNvPr id="9" name="Dikdörtgen 8"/>
          <p:cNvSpPr/>
          <p:nvPr/>
        </p:nvSpPr>
        <p:spPr>
          <a:xfrm>
            <a:off x="11219909" y="6651449"/>
            <a:ext cx="2871299" cy="954107"/>
          </a:xfrm>
          <a:prstGeom prst="rect">
            <a:avLst/>
          </a:prstGeom>
        </p:spPr>
        <p:txBody>
          <a:bodyPr wrap="none">
            <a:spAutoFit/>
          </a:bodyPr>
          <a:lstStyle/>
          <a:p>
            <a:pPr algn="r"/>
            <a:r>
              <a:rPr lang="tr-TR" sz="2800" dirty="0">
                <a:latin typeface="Source Sans 3" panose="020B0604020202020204" charset="0"/>
              </a:rPr>
              <a:t>Yunus Emre Temel</a:t>
            </a:r>
          </a:p>
          <a:p>
            <a:pPr algn="r"/>
            <a:r>
              <a:rPr lang="tr-TR" sz="2800" dirty="0">
                <a:latin typeface="Source Sans 3" panose="020B0604020202020204" charset="0"/>
              </a:rPr>
              <a:t>202313151051</a:t>
            </a:r>
          </a:p>
        </p:txBody>
      </p:sp>
    </p:spTree>
    <p:extLst>
      <p:ext uri="{BB962C8B-B14F-4D97-AF65-F5344CB8AC3E}">
        <p14:creationId xmlns:p14="http://schemas.microsoft.com/office/powerpoint/2010/main" val="156346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920948"/>
            <a:ext cx="10168652" cy="701278"/>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Projenin Temel Bileşenleri ve İşlevi</a:t>
            </a:r>
            <a:endParaRPr lang="en-US" sz="4400" dirty="0"/>
          </a:p>
        </p:txBody>
      </p:sp>
      <p:sp>
        <p:nvSpPr>
          <p:cNvPr id="4" name="Text 1"/>
          <p:cNvSpPr/>
          <p:nvPr/>
        </p:nvSpPr>
        <p:spPr>
          <a:xfrm>
            <a:off x="863798" y="3041333"/>
            <a:ext cx="2884765"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Su Derinlik Sensörü</a:t>
            </a:r>
            <a:endParaRPr lang="en-US" sz="2200" dirty="0"/>
          </a:p>
        </p:txBody>
      </p:sp>
      <p:sp>
        <p:nvSpPr>
          <p:cNvPr id="5" name="Text 2"/>
          <p:cNvSpPr/>
          <p:nvPr/>
        </p:nvSpPr>
        <p:spPr>
          <a:xfrm>
            <a:off x="863798" y="3539966"/>
            <a:ext cx="6297097"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Su seviyesini analog sinyal olarak ölçer. Direnç değişimi prensibiyle çalışarak deponun doluluk oranını hassas bir şekilde belirler.</a:t>
            </a:r>
            <a:endParaRPr lang="en-US" sz="1900" dirty="0"/>
          </a:p>
        </p:txBody>
      </p:sp>
      <p:sp>
        <p:nvSpPr>
          <p:cNvPr id="7" name="Text 3"/>
          <p:cNvSpPr/>
          <p:nvPr/>
        </p:nvSpPr>
        <p:spPr>
          <a:xfrm>
            <a:off x="7469386" y="3041333"/>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Yağmur Sensörü</a:t>
            </a:r>
            <a:endParaRPr lang="en-US" sz="2200" dirty="0"/>
          </a:p>
        </p:txBody>
      </p:sp>
      <p:sp>
        <p:nvSpPr>
          <p:cNvPr id="8" name="Text 4"/>
          <p:cNvSpPr/>
          <p:nvPr/>
        </p:nvSpPr>
        <p:spPr>
          <a:xfrm>
            <a:off x="7469386" y="3539966"/>
            <a:ext cx="6297216"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Yağış varlığını anında tespit eder. Arduino analog girişine bağlanarak dış ortamdaki hava durumunu sisteme iletir.</a:t>
            </a:r>
            <a:endParaRPr lang="en-US" sz="1900" dirty="0"/>
          </a:p>
        </p:txBody>
      </p:sp>
      <p:sp>
        <p:nvSpPr>
          <p:cNvPr id="10" name="Text 5"/>
          <p:cNvSpPr/>
          <p:nvPr/>
        </p:nvSpPr>
        <p:spPr>
          <a:xfrm>
            <a:off x="863798" y="6069568"/>
            <a:ext cx="3655576"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Kontrol Ünitesi (Arduino)</a:t>
            </a:r>
            <a:endParaRPr lang="en-US" sz="2200" dirty="0"/>
          </a:p>
        </p:txBody>
      </p:sp>
      <p:sp>
        <p:nvSpPr>
          <p:cNvPr id="11" name="Text 6"/>
          <p:cNvSpPr/>
          <p:nvPr/>
        </p:nvSpPr>
        <p:spPr>
          <a:xfrm>
            <a:off x="863798" y="6568202"/>
            <a:ext cx="6297097"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Sensörlerden gelen verileri toplar, LCD ekranda anlık değerleri gösterir ve seri port üzerinden bilgisayara aktarır.</a:t>
            </a:r>
            <a:endParaRPr lang="en-US" sz="1900" dirty="0"/>
          </a:p>
        </p:txBody>
      </p:sp>
      <p:sp>
        <p:nvSpPr>
          <p:cNvPr id="13" name="Text 7"/>
          <p:cNvSpPr/>
          <p:nvPr/>
        </p:nvSpPr>
        <p:spPr>
          <a:xfrm>
            <a:off x="7469386" y="606956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Python Arayüzü</a:t>
            </a:r>
            <a:endParaRPr lang="en-US" sz="2200" dirty="0"/>
          </a:p>
        </p:txBody>
      </p:sp>
      <p:sp>
        <p:nvSpPr>
          <p:cNvPr id="14" name="Text 8"/>
          <p:cNvSpPr/>
          <p:nvPr/>
        </p:nvSpPr>
        <p:spPr>
          <a:xfrm>
            <a:off x="7469386" y="6568202"/>
            <a:ext cx="6297216"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Gelen verileri tarih, saat, dakika ve saniye bazında zaman damgalarıyla işleyerek kalıcı hafızaya kaydeder.</a:t>
            </a:r>
            <a:endParaRPr lang="en-US" sz="1900" dirty="0"/>
          </a:p>
        </p:txBody>
      </p:sp>
      <p:pic>
        <p:nvPicPr>
          <p:cNvPr id="15" name="Resim 14"/>
          <p:cNvPicPr>
            <a:picLocks noChangeAspect="1"/>
          </p:cNvPicPr>
          <p:nvPr/>
        </p:nvPicPr>
        <p:blipFill>
          <a:blip r:embed="rId3"/>
          <a:stretch>
            <a:fillRect/>
          </a:stretch>
        </p:blipFill>
        <p:spPr>
          <a:xfrm>
            <a:off x="7450630" y="2115861"/>
            <a:ext cx="635738" cy="616982"/>
          </a:xfrm>
          <a:prstGeom prst="rect">
            <a:avLst/>
          </a:prstGeom>
        </p:spPr>
      </p:pic>
      <p:pic>
        <p:nvPicPr>
          <p:cNvPr id="16" name="Resim 15"/>
          <p:cNvPicPr>
            <a:picLocks noChangeAspect="1"/>
          </p:cNvPicPr>
          <p:nvPr/>
        </p:nvPicPr>
        <p:blipFill>
          <a:blip r:embed="rId4"/>
          <a:stretch>
            <a:fillRect/>
          </a:stretch>
        </p:blipFill>
        <p:spPr>
          <a:xfrm>
            <a:off x="863798" y="2115861"/>
            <a:ext cx="635738" cy="633898"/>
          </a:xfrm>
          <a:prstGeom prst="rect">
            <a:avLst/>
          </a:prstGeom>
        </p:spPr>
      </p:pic>
      <p:pic>
        <p:nvPicPr>
          <p:cNvPr id="17" name="Resim 16"/>
          <p:cNvPicPr>
            <a:picLocks noChangeAspect="1"/>
          </p:cNvPicPr>
          <p:nvPr/>
        </p:nvPicPr>
        <p:blipFill>
          <a:blip r:embed="rId5"/>
          <a:stretch>
            <a:fillRect/>
          </a:stretch>
        </p:blipFill>
        <p:spPr>
          <a:xfrm>
            <a:off x="863798" y="5019203"/>
            <a:ext cx="856643" cy="857923"/>
          </a:xfrm>
          <a:prstGeom prst="rect">
            <a:avLst/>
          </a:prstGeom>
        </p:spPr>
      </p:pic>
      <p:pic>
        <p:nvPicPr>
          <p:cNvPr id="18" name="Resim 17"/>
          <p:cNvPicPr>
            <a:picLocks noChangeAspect="1"/>
          </p:cNvPicPr>
          <p:nvPr/>
        </p:nvPicPr>
        <p:blipFill>
          <a:blip r:embed="rId6"/>
          <a:stretch>
            <a:fillRect/>
          </a:stretch>
        </p:blipFill>
        <p:spPr>
          <a:xfrm>
            <a:off x="7469386" y="5072281"/>
            <a:ext cx="842787" cy="7985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5088" y="553998"/>
            <a:ext cx="6417588" cy="372070"/>
          </a:xfrm>
          <a:prstGeom prst="rect">
            <a:avLst/>
          </a:prstGeom>
          <a:noFill/>
          <a:ln/>
        </p:spPr>
        <p:txBody>
          <a:bodyPr wrap="none" lIns="0" tIns="0" rIns="0" bIns="0" rtlCol="0" anchor="t"/>
          <a:lstStyle/>
          <a:p>
            <a:pPr marL="0" indent="0" algn="l">
              <a:lnSpc>
                <a:spcPts val="2900"/>
              </a:lnSpc>
              <a:buNone/>
            </a:pPr>
            <a:r>
              <a:rPr lang="en-US" sz="3200" b="1" dirty="0">
                <a:solidFill>
                  <a:srgbClr val="FFFFFF"/>
                </a:solidFill>
                <a:latin typeface="Montserrat Bold" pitchFamily="34" charset="0"/>
                <a:ea typeface="Montserrat Bold" pitchFamily="34" charset="-122"/>
                <a:cs typeface="Montserrat Bold" pitchFamily="34" charset="-120"/>
              </a:rPr>
              <a:t>Arduino ile Sensör Bağlantısı ve Kodlama</a:t>
            </a:r>
            <a:endParaRPr lang="en-US" sz="3200" dirty="0"/>
          </a:p>
        </p:txBody>
      </p:sp>
      <p:sp>
        <p:nvSpPr>
          <p:cNvPr id="3" name="Text 1"/>
          <p:cNvSpPr/>
          <p:nvPr/>
        </p:nvSpPr>
        <p:spPr>
          <a:xfrm>
            <a:off x="705088" y="1253252"/>
            <a:ext cx="1993940" cy="185976"/>
          </a:xfrm>
          <a:prstGeom prst="rect">
            <a:avLst/>
          </a:prstGeom>
          <a:noFill/>
          <a:ln/>
        </p:spPr>
        <p:txBody>
          <a:bodyPr wrap="none" lIns="0" tIns="0" rIns="0" bIns="0" rtlCol="0" anchor="t"/>
          <a:lstStyle/>
          <a:p>
            <a:pPr marL="0" indent="0" algn="l">
              <a:lnSpc>
                <a:spcPts val="1450"/>
              </a:lnSpc>
              <a:buNone/>
            </a:pPr>
            <a:r>
              <a:rPr lang="en-US" sz="1600" b="1" dirty="0">
                <a:solidFill>
                  <a:srgbClr val="FFFFFF"/>
                </a:solidFill>
                <a:latin typeface="Montserrat Bold" pitchFamily="34" charset="0"/>
                <a:ea typeface="Montserrat Bold" pitchFamily="34" charset="-122"/>
                <a:cs typeface="Montserrat Bold" pitchFamily="34" charset="-120"/>
              </a:rPr>
              <a:t>Donanım Konfigürasyonu</a:t>
            </a:r>
            <a:endParaRPr lang="en-US" sz="1600" dirty="0"/>
          </a:p>
        </p:txBody>
      </p:sp>
      <p:sp>
        <p:nvSpPr>
          <p:cNvPr id="4" name="Text 2"/>
          <p:cNvSpPr/>
          <p:nvPr/>
        </p:nvSpPr>
        <p:spPr>
          <a:xfrm>
            <a:off x="705088" y="1570077"/>
            <a:ext cx="7804309" cy="196453"/>
          </a:xfrm>
          <a:prstGeom prst="rect">
            <a:avLst/>
          </a:prstGeom>
          <a:noFill/>
          <a:ln/>
        </p:spPr>
        <p:txBody>
          <a:bodyPr wrap="none" lIns="0" tIns="0" rIns="0" bIns="0" rtlCol="0" anchor="t"/>
          <a:lstStyle/>
          <a:p>
            <a:pPr marL="0" indent="0" algn="l">
              <a:lnSpc>
                <a:spcPts val="1500"/>
              </a:lnSpc>
              <a:buNone/>
            </a:pPr>
            <a:r>
              <a:rPr lang="en-US" sz="1600" dirty="0">
                <a:solidFill>
                  <a:srgbClr val="E2E6E9"/>
                </a:solidFill>
                <a:latin typeface="Source Sans 3" pitchFamily="34" charset="0"/>
                <a:ea typeface="Source Sans 3" pitchFamily="34" charset="-122"/>
                <a:cs typeface="Source Sans 3" pitchFamily="34" charset="-120"/>
              </a:rPr>
              <a:t>Sistemin kalbinde yer alan bağlantı şeması ve kod mantığı şu adımları izler:</a:t>
            </a:r>
            <a:endParaRPr lang="en-US" sz="1600" dirty="0"/>
          </a:p>
        </p:txBody>
      </p:sp>
      <p:sp>
        <p:nvSpPr>
          <p:cNvPr id="5" name="Text 3"/>
          <p:cNvSpPr/>
          <p:nvPr/>
        </p:nvSpPr>
        <p:spPr>
          <a:xfrm>
            <a:off x="705088" y="1884283"/>
            <a:ext cx="7804309" cy="196453"/>
          </a:xfrm>
          <a:prstGeom prst="rect">
            <a:avLst/>
          </a:prstGeom>
          <a:noFill/>
          <a:ln/>
        </p:spPr>
        <p:txBody>
          <a:bodyPr wrap="none" lIns="0" tIns="0" rIns="0" bIns="0" rtlCol="0" anchor="t"/>
          <a:lstStyle/>
          <a:p>
            <a:pPr marL="285750" indent="-285750" algn="l">
              <a:lnSpc>
                <a:spcPts val="1500"/>
              </a:lnSpc>
              <a:buSzPct val="100000"/>
              <a:buFont typeface="Arial" panose="020B0604020202020204" pitchFamily="34" charset="0"/>
              <a:buChar char="•"/>
            </a:pPr>
            <a:r>
              <a:rPr lang="en-US" sz="1400" b="1" dirty="0">
                <a:solidFill>
                  <a:srgbClr val="E2E6E9"/>
                </a:solidFill>
                <a:latin typeface="Source Sans 3" pitchFamily="34" charset="0"/>
                <a:ea typeface="Source Sans 3" pitchFamily="34" charset="-122"/>
                <a:cs typeface="Source Sans 3" pitchFamily="34" charset="-120"/>
              </a:rPr>
              <a:t>Su Sensörü:</a:t>
            </a:r>
            <a:r>
              <a:rPr lang="en-US" sz="1400" dirty="0">
                <a:solidFill>
                  <a:srgbClr val="E2E6E9"/>
                </a:solidFill>
                <a:latin typeface="Source Sans 3" pitchFamily="34" charset="0"/>
                <a:ea typeface="Source Sans 3" pitchFamily="34" charset="-122"/>
                <a:cs typeface="Source Sans 3" pitchFamily="34" charset="-120"/>
              </a:rPr>
              <a:t> VCC (5V), GND ve Sinyal (A0) pinleri ile bağlanır.</a:t>
            </a:r>
            <a:endParaRPr lang="en-US" sz="1400" dirty="0"/>
          </a:p>
        </p:txBody>
      </p:sp>
      <p:sp>
        <p:nvSpPr>
          <p:cNvPr id="6" name="Text 4"/>
          <p:cNvSpPr/>
          <p:nvPr/>
        </p:nvSpPr>
        <p:spPr>
          <a:xfrm>
            <a:off x="705088" y="2126456"/>
            <a:ext cx="7804309" cy="196453"/>
          </a:xfrm>
          <a:prstGeom prst="rect">
            <a:avLst/>
          </a:prstGeom>
          <a:noFill/>
          <a:ln/>
        </p:spPr>
        <p:txBody>
          <a:bodyPr wrap="none" lIns="0" tIns="0" rIns="0" bIns="0" rtlCol="0" anchor="t"/>
          <a:lstStyle/>
          <a:p>
            <a:pPr marL="285750" indent="-285750" algn="l">
              <a:lnSpc>
                <a:spcPts val="1500"/>
              </a:lnSpc>
              <a:buSzPct val="100000"/>
              <a:buFont typeface="Arial" panose="020B0604020202020204" pitchFamily="34" charset="0"/>
              <a:buChar char="•"/>
            </a:pPr>
            <a:r>
              <a:rPr lang="en-US" sz="1400" b="1" dirty="0">
                <a:solidFill>
                  <a:srgbClr val="E2E6E9"/>
                </a:solidFill>
                <a:latin typeface="Source Sans 3" pitchFamily="34" charset="0"/>
                <a:ea typeface="Source Sans 3" pitchFamily="34" charset="-122"/>
                <a:cs typeface="Source Sans 3" pitchFamily="34" charset="-120"/>
              </a:rPr>
              <a:t>Yağmur Sensörü:</a:t>
            </a:r>
            <a:r>
              <a:rPr lang="en-US" sz="1400" dirty="0">
                <a:solidFill>
                  <a:srgbClr val="E2E6E9"/>
                </a:solidFill>
                <a:latin typeface="Source Sans 3" pitchFamily="34" charset="0"/>
                <a:ea typeface="Source Sans 3" pitchFamily="34" charset="-122"/>
                <a:cs typeface="Source Sans 3" pitchFamily="34" charset="-120"/>
              </a:rPr>
              <a:t> Analog giriş (A1) üzerinden hassas ölçüm yapar.</a:t>
            </a:r>
            <a:endParaRPr lang="en-US" sz="1400" dirty="0"/>
          </a:p>
        </p:txBody>
      </p:sp>
      <p:sp>
        <p:nvSpPr>
          <p:cNvPr id="7" name="Text 5"/>
          <p:cNvSpPr/>
          <p:nvPr/>
        </p:nvSpPr>
        <p:spPr>
          <a:xfrm>
            <a:off x="705088" y="2368629"/>
            <a:ext cx="7804309" cy="196453"/>
          </a:xfrm>
          <a:prstGeom prst="rect">
            <a:avLst/>
          </a:prstGeom>
          <a:noFill/>
          <a:ln/>
        </p:spPr>
        <p:txBody>
          <a:bodyPr wrap="none" lIns="0" tIns="0" rIns="0" bIns="0" rtlCol="0" anchor="t"/>
          <a:lstStyle/>
          <a:p>
            <a:pPr marL="285750" indent="-285750" algn="l">
              <a:lnSpc>
                <a:spcPts val="1500"/>
              </a:lnSpc>
              <a:buSzPct val="100000"/>
              <a:buFont typeface="Arial" panose="020B0604020202020204" pitchFamily="34" charset="0"/>
              <a:buChar char="•"/>
            </a:pPr>
            <a:r>
              <a:rPr lang="en-US" sz="1400" b="1" dirty="0">
                <a:solidFill>
                  <a:srgbClr val="E2E6E9"/>
                </a:solidFill>
                <a:latin typeface="Source Sans 3" pitchFamily="34" charset="0"/>
                <a:ea typeface="Source Sans 3" pitchFamily="34" charset="-122"/>
                <a:cs typeface="Source Sans 3" pitchFamily="34" charset="-120"/>
              </a:rPr>
              <a:t>Korozyon Önleme:</a:t>
            </a:r>
            <a:r>
              <a:rPr lang="en-US" sz="1400" dirty="0">
                <a:solidFill>
                  <a:srgbClr val="E2E6E9"/>
                </a:solidFill>
                <a:latin typeface="Source Sans 3" pitchFamily="34" charset="0"/>
                <a:ea typeface="Source Sans 3" pitchFamily="34" charset="-122"/>
                <a:cs typeface="Source Sans 3" pitchFamily="34" charset="-120"/>
              </a:rPr>
              <a:t> Sensör gücü, sadece ölçüm anında dijital bir pin üzerinden verilerek donanım ömrü uzatılır.</a:t>
            </a:r>
            <a:endParaRPr lang="en-US" sz="1400" dirty="0"/>
          </a:p>
        </p:txBody>
      </p:sp>
      <p:sp>
        <p:nvSpPr>
          <p:cNvPr id="8" name="Text 6"/>
          <p:cNvSpPr/>
          <p:nvPr/>
        </p:nvSpPr>
        <p:spPr>
          <a:xfrm>
            <a:off x="705087" y="2641257"/>
            <a:ext cx="7804309" cy="196453"/>
          </a:xfrm>
          <a:prstGeom prst="rect">
            <a:avLst/>
          </a:prstGeom>
          <a:noFill/>
          <a:ln/>
        </p:spPr>
        <p:txBody>
          <a:bodyPr wrap="none" lIns="0" tIns="0" rIns="0" bIns="0" rtlCol="0" anchor="t"/>
          <a:lstStyle/>
          <a:p>
            <a:pPr marL="285750" indent="-285750" algn="l">
              <a:lnSpc>
                <a:spcPts val="1500"/>
              </a:lnSpc>
              <a:buSzPct val="100000"/>
              <a:buFont typeface="Arial" panose="020B0604020202020204" pitchFamily="34" charset="0"/>
              <a:buChar char="•"/>
            </a:pPr>
            <a:r>
              <a:rPr lang="en-US" sz="1400" b="1" dirty="0">
                <a:solidFill>
                  <a:srgbClr val="E2E6E9"/>
                </a:solidFill>
                <a:latin typeface="Source Sans 3" pitchFamily="34" charset="0"/>
                <a:ea typeface="Source Sans 3" pitchFamily="34" charset="-122"/>
                <a:cs typeface="Source Sans 3" pitchFamily="34" charset="-120"/>
              </a:rPr>
              <a:t>LCD Ekran:</a:t>
            </a:r>
            <a:r>
              <a:rPr lang="en-US" sz="1400" dirty="0">
                <a:solidFill>
                  <a:srgbClr val="E2E6E9"/>
                </a:solidFill>
                <a:latin typeface="Source Sans 3" pitchFamily="34" charset="0"/>
                <a:ea typeface="Source Sans 3" pitchFamily="34" charset="-122"/>
                <a:cs typeface="Source Sans 3" pitchFamily="34" charset="-120"/>
              </a:rPr>
              <a:t> 16x2 karakterli ekran ile kullanıcıya anlık geri bildirim sağlanır.</a:t>
            </a:r>
            <a:endParaRPr lang="en-US" sz="1400" dirty="0"/>
          </a:p>
        </p:txBody>
      </p:sp>
      <p:pic>
        <p:nvPicPr>
          <p:cNvPr id="9" name="Image 0" descr="preencoded.png"/>
          <p:cNvPicPr>
            <a:picLocks noChangeAspect="1"/>
          </p:cNvPicPr>
          <p:nvPr/>
        </p:nvPicPr>
        <p:blipFill>
          <a:blip r:embed="rId3"/>
          <a:stretch>
            <a:fillRect/>
          </a:stretch>
        </p:blipFill>
        <p:spPr>
          <a:xfrm>
            <a:off x="10044550" y="779318"/>
            <a:ext cx="3312676" cy="3312676"/>
          </a:xfrm>
          <a:prstGeom prst="rect">
            <a:avLst/>
          </a:prstGeom>
        </p:spPr>
      </p:pic>
      <p:pic>
        <p:nvPicPr>
          <p:cNvPr id="10" name="Image 1" descr="preencoded.png"/>
          <p:cNvPicPr>
            <a:picLocks noChangeAspect="1"/>
          </p:cNvPicPr>
          <p:nvPr/>
        </p:nvPicPr>
        <p:blipFill>
          <a:blip r:embed="rId4"/>
          <a:stretch>
            <a:fillRect/>
          </a:stretch>
        </p:blipFill>
        <p:spPr>
          <a:xfrm>
            <a:off x="848789" y="3125603"/>
            <a:ext cx="8522256" cy="3674983"/>
          </a:xfrm>
          <a:prstGeom prst="rect">
            <a:avLst/>
          </a:prstGeom>
        </p:spPr>
      </p:pic>
      <p:sp>
        <p:nvSpPr>
          <p:cNvPr id="11" name="Text 7"/>
          <p:cNvSpPr/>
          <p:nvPr/>
        </p:nvSpPr>
        <p:spPr>
          <a:xfrm>
            <a:off x="1522294" y="6173192"/>
            <a:ext cx="1757521" cy="219656"/>
          </a:xfrm>
          <a:prstGeom prst="rect">
            <a:avLst/>
          </a:prstGeom>
          <a:noFill/>
          <a:ln/>
        </p:spPr>
        <p:txBody>
          <a:bodyPr wrap="none" lIns="0" tIns="0" rIns="0" bIns="0" rtlCol="0" anchor="t"/>
          <a:lstStyle/>
          <a:p>
            <a:pPr marL="0" indent="0" algn="l">
              <a:lnSpc>
                <a:spcPts val="1500"/>
              </a:lnSpc>
              <a:buNone/>
            </a:pPr>
            <a:r>
              <a:rPr lang="en-US" sz="2000" b="1" dirty="0">
                <a:solidFill>
                  <a:srgbClr val="000000"/>
                </a:solidFill>
                <a:latin typeface="Montserrat Bold" pitchFamily="34" charset="0"/>
                <a:ea typeface="Montserrat Bold" pitchFamily="34" charset="-122"/>
                <a:cs typeface="Montserrat Bold" pitchFamily="34" charset="-120"/>
              </a:rPr>
              <a:t>Seri </a:t>
            </a:r>
            <a:r>
              <a:rPr lang="tr-TR" sz="2000" b="1" dirty="0">
                <a:solidFill>
                  <a:srgbClr val="000000"/>
                </a:solidFill>
                <a:latin typeface="Montserrat Bold" pitchFamily="34" charset="0"/>
                <a:ea typeface="Montserrat Bold" pitchFamily="34" charset="-122"/>
                <a:cs typeface="Montserrat Bold" pitchFamily="34" charset="-120"/>
              </a:rPr>
              <a:t>i</a:t>
            </a:r>
            <a:r>
              <a:rPr lang="en-US" sz="2000" b="1" dirty="0">
                <a:solidFill>
                  <a:srgbClr val="000000"/>
                </a:solidFill>
                <a:latin typeface="Montserrat Bold" pitchFamily="34" charset="0"/>
                <a:ea typeface="Montserrat Bold" pitchFamily="34" charset="-122"/>
                <a:cs typeface="Montserrat Bold" pitchFamily="34" charset="-120"/>
              </a:rPr>
              <a:t>letişim</a:t>
            </a:r>
            <a:endParaRPr lang="en-US" sz="2000" dirty="0"/>
          </a:p>
        </p:txBody>
      </p:sp>
      <p:sp>
        <p:nvSpPr>
          <p:cNvPr id="12" name="Text 8"/>
          <p:cNvSpPr/>
          <p:nvPr/>
        </p:nvSpPr>
        <p:spPr>
          <a:xfrm>
            <a:off x="1522294" y="5322492"/>
            <a:ext cx="1757521" cy="219656"/>
          </a:xfrm>
          <a:prstGeom prst="rect">
            <a:avLst/>
          </a:prstGeom>
          <a:noFill/>
          <a:ln/>
        </p:spPr>
        <p:txBody>
          <a:bodyPr wrap="none" lIns="0" tIns="0" rIns="0" bIns="0" rtlCol="0" anchor="t"/>
          <a:lstStyle/>
          <a:p>
            <a:pPr marL="0" indent="0" algn="l">
              <a:lnSpc>
                <a:spcPts val="1500"/>
              </a:lnSpc>
              <a:buNone/>
            </a:pPr>
            <a:r>
              <a:rPr lang="en-US" sz="2000" b="1" dirty="0">
                <a:solidFill>
                  <a:srgbClr val="000000"/>
                </a:solidFill>
                <a:latin typeface="Montserrat Bold" pitchFamily="34" charset="0"/>
                <a:ea typeface="Montserrat Bold" pitchFamily="34" charset="-122"/>
                <a:cs typeface="Montserrat Bold" pitchFamily="34" charset="-120"/>
              </a:rPr>
              <a:t>16x2 LCD </a:t>
            </a:r>
            <a:r>
              <a:rPr lang="tr-TR" sz="2000" b="1" dirty="0">
                <a:solidFill>
                  <a:srgbClr val="000000"/>
                </a:solidFill>
                <a:latin typeface="Montserrat Bold" pitchFamily="34" charset="0"/>
                <a:ea typeface="Montserrat Bold" pitchFamily="34" charset="-122"/>
                <a:cs typeface="Montserrat Bold" pitchFamily="34" charset="-120"/>
              </a:rPr>
              <a:t>ç</a:t>
            </a:r>
            <a:r>
              <a:rPr lang="en-US" sz="2000" b="1" dirty="0">
                <a:solidFill>
                  <a:srgbClr val="000000"/>
                </a:solidFill>
                <a:latin typeface="Montserrat Bold" pitchFamily="34" charset="0"/>
                <a:ea typeface="Montserrat Bold" pitchFamily="34" charset="-122"/>
                <a:cs typeface="Montserrat Bold" pitchFamily="34" charset="-120"/>
              </a:rPr>
              <a:t>ıkışı</a:t>
            </a:r>
            <a:endParaRPr lang="en-US" sz="2000" dirty="0"/>
          </a:p>
        </p:txBody>
      </p:sp>
      <p:sp>
        <p:nvSpPr>
          <p:cNvPr id="13" name="Text 9"/>
          <p:cNvSpPr/>
          <p:nvPr/>
        </p:nvSpPr>
        <p:spPr>
          <a:xfrm>
            <a:off x="1522294" y="4480386"/>
            <a:ext cx="1757521" cy="219656"/>
          </a:xfrm>
          <a:prstGeom prst="rect">
            <a:avLst/>
          </a:prstGeom>
          <a:noFill/>
          <a:ln/>
        </p:spPr>
        <p:txBody>
          <a:bodyPr wrap="none" lIns="0" tIns="0" rIns="0" bIns="0" rtlCol="0" anchor="t"/>
          <a:lstStyle/>
          <a:p>
            <a:pPr marL="0" indent="0" algn="l">
              <a:lnSpc>
                <a:spcPts val="1500"/>
              </a:lnSpc>
              <a:buNone/>
            </a:pPr>
            <a:r>
              <a:rPr lang="en-US" sz="2000" b="1" dirty="0">
                <a:solidFill>
                  <a:srgbClr val="000000"/>
                </a:solidFill>
                <a:latin typeface="Montserrat Bold" pitchFamily="34" charset="0"/>
                <a:ea typeface="Montserrat Bold" pitchFamily="34" charset="-122"/>
                <a:cs typeface="Montserrat Bold" pitchFamily="34" charset="-120"/>
              </a:rPr>
              <a:t>Arduino </a:t>
            </a:r>
            <a:r>
              <a:rPr lang="tr-TR" sz="2000" b="1" dirty="0">
                <a:solidFill>
                  <a:srgbClr val="000000"/>
                </a:solidFill>
                <a:latin typeface="Montserrat Bold" pitchFamily="34" charset="0"/>
                <a:ea typeface="Montserrat Bold" pitchFamily="34" charset="-122"/>
                <a:cs typeface="Montserrat Bold" pitchFamily="34" charset="-120"/>
              </a:rPr>
              <a:t>işleme</a:t>
            </a:r>
            <a:endParaRPr lang="en-US" sz="2000" dirty="0"/>
          </a:p>
        </p:txBody>
      </p:sp>
      <p:sp>
        <p:nvSpPr>
          <p:cNvPr id="14" name="Text 10"/>
          <p:cNvSpPr/>
          <p:nvPr/>
        </p:nvSpPr>
        <p:spPr>
          <a:xfrm>
            <a:off x="1522294" y="3629687"/>
            <a:ext cx="1757521" cy="219656"/>
          </a:xfrm>
          <a:prstGeom prst="rect">
            <a:avLst/>
          </a:prstGeom>
          <a:noFill/>
          <a:ln/>
        </p:spPr>
        <p:txBody>
          <a:bodyPr wrap="none" lIns="0" tIns="0" rIns="0" bIns="0" rtlCol="0" anchor="t"/>
          <a:lstStyle/>
          <a:p>
            <a:pPr marL="0" indent="0" algn="l">
              <a:lnSpc>
                <a:spcPts val="1500"/>
              </a:lnSpc>
              <a:buNone/>
            </a:pPr>
            <a:r>
              <a:rPr lang="en-US" sz="2000" b="1" dirty="0">
                <a:solidFill>
                  <a:srgbClr val="000000"/>
                </a:solidFill>
                <a:latin typeface="Montserrat Bold" pitchFamily="34" charset="0"/>
                <a:ea typeface="Montserrat Bold" pitchFamily="34" charset="-122"/>
                <a:cs typeface="Montserrat Bold" pitchFamily="34" charset="-120"/>
              </a:rPr>
              <a:t>Sensör </a:t>
            </a:r>
            <a:r>
              <a:rPr lang="tr-TR" sz="2000" b="1" dirty="0">
                <a:solidFill>
                  <a:srgbClr val="000000"/>
                </a:solidFill>
                <a:latin typeface="Montserrat Bold" pitchFamily="34" charset="0"/>
                <a:ea typeface="Montserrat Bold" pitchFamily="34" charset="-122"/>
                <a:cs typeface="Montserrat Bold" pitchFamily="34" charset="-120"/>
              </a:rPr>
              <a:t>okuma</a:t>
            </a:r>
            <a:endParaRPr lang="en-US" sz="2000" dirty="0"/>
          </a:p>
        </p:txBody>
      </p:sp>
    </p:spTree>
    <p:extLst>
      <p:ext uri="{BB962C8B-B14F-4D97-AF65-F5344CB8AC3E}">
        <p14:creationId xmlns:p14="http://schemas.microsoft.com/office/powerpoint/2010/main" val="220992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48796"/>
          </a:xfrm>
          <a:prstGeom prst="rect">
            <a:avLst/>
          </a:prstGeom>
        </p:spPr>
      </p:pic>
      <p:sp>
        <p:nvSpPr>
          <p:cNvPr id="3" name="Text 0"/>
          <p:cNvSpPr/>
          <p:nvPr/>
        </p:nvSpPr>
        <p:spPr>
          <a:xfrm>
            <a:off x="855107" y="3420666"/>
            <a:ext cx="7696081" cy="624721"/>
          </a:xfrm>
          <a:prstGeom prst="rect">
            <a:avLst/>
          </a:prstGeom>
          <a:noFill/>
          <a:ln/>
        </p:spPr>
        <p:txBody>
          <a:bodyPr wrap="none" lIns="0" tIns="0" rIns="0" bIns="0" rtlCol="0" anchor="t"/>
          <a:lstStyle/>
          <a:p>
            <a:pPr marL="0" indent="0" algn="l">
              <a:lnSpc>
                <a:spcPts val="4900"/>
              </a:lnSpc>
              <a:buNone/>
            </a:pPr>
            <a:r>
              <a:rPr lang="en-US" sz="3900" b="1" dirty="0">
                <a:solidFill>
                  <a:srgbClr val="FFFFFF"/>
                </a:solidFill>
                <a:latin typeface="Montserrat Bold" pitchFamily="34" charset="0"/>
                <a:ea typeface="Montserrat Bold" pitchFamily="34" charset="-122"/>
                <a:cs typeface="Montserrat Bold" pitchFamily="34" charset="-120"/>
              </a:rPr>
              <a:t>Python Arayüzü ve Veri Kaydı</a:t>
            </a:r>
            <a:endParaRPr lang="en-US" sz="3900" dirty="0"/>
          </a:p>
        </p:txBody>
      </p:sp>
      <p:sp>
        <p:nvSpPr>
          <p:cNvPr id="4" name="Text 1"/>
          <p:cNvSpPr/>
          <p:nvPr/>
        </p:nvSpPr>
        <p:spPr>
          <a:xfrm>
            <a:off x="855107" y="4375190"/>
            <a:ext cx="12920186" cy="329803"/>
          </a:xfrm>
          <a:prstGeom prst="rect">
            <a:avLst/>
          </a:prstGeom>
          <a:noFill/>
          <a:ln/>
        </p:spPr>
        <p:txBody>
          <a:bodyPr wrap="non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Python, sistemin beyni olarak verilerin görselleştirilmesi ve arşivlenmesi görevini üstlenir.</a:t>
            </a:r>
            <a:endParaRPr lang="en-US" sz="1700" dirty="0"/>
          </a:p>
        </p:txBody>
      </p:sp>
      <p:sp>
        <p:nvSpPr>
          <p:cNvPr id="5" name="Shape 2"/>
          <p:cNvSpPr/>
          <p:nvPr/>
        </p:nvSpPr>
        <p:spPr>
          <a:xfrm>
            <a:off x="855107" y="4952286"/>
            <a:ext cx="4160044" cy="2616994"/>
          </a:xfrm>
          <a:prstGeom prst="roundRect">
            <a:avLst>
              <a:gd name="adj" fmla="val 1260"/>
            </a:avLst>
          </a:prstGeom>
          <a:solidFill>
            <a:srgbClr val="111213"/>
          </a:solidFill>
          <a:ln w="30480">
            <a:solidFill>
              <a:srgbClr val="494A4B"/>
            </a:solidFill>
            <a:prstDash val="solid"/>
          </a:ln>
        </p:spPr>
      </p:sp>
      <p:sp>
        <p:nvSpPr>
          <p:cNvPr id="6" name="Shape 3"/>
          <p:cNvSpPr/>
          <p:nvPr/>
        </p:nvSpPr>
        <p:spPr>
          <a:xfrm>
            <a:off x="885587" y="4982766"/>
            <a:ext cx="4099084" cy="659725"/>
          </a:xfrm>
          <a:prstGeom prst="rect">
            <a:avLst/>
          </a:prstGeom>
          <a:solidFill>
            <a:srgbClr val="303132"/>
          </a:solidFill>
          <a:ln/>
        </p:spPr>
      </p:sp>
      <p:sp>
        <p:nvSpPr>
          <p:cNvPr id="7" name="Text 4"/>
          <p:cNvSpPr/>
          <p:nvPr/>
        </p:nvSpPr>
        <p:spPr>
          <a:xfrm>
            <a:off x="2770227" y="5106472"/>
            <a:ext cx="329803" cy="412313"/>
          </a:xfrm>
          <a:prstGeom prst="rect">
            <a:avLst/>
          </a:prstGeom>
          <a:noFill/>
          <a:ln/>
        </p:spPr>
        <p:txBody>
          <a:bodyPr wrap="none" lIns="0" tIns="0" rIns="0" bIns="0" rtlCol="0" anchor="t"/>
          <a:lstStyle/>
          <a:p>
            <a:pPr marL="0" indent="0" algn="l">
              <a:lnSpc>
                <a:spcPts val="2550"/>
              </a:lnSpc>
              <a:buNone/>
            </a:pPr>
            <a:r>
              <a:rPr lang="en-US" sz="2550" b="1" dirty="0">
                <a:solidFill>
                  <a:srgbClr val="E2E6E9"/>
                </a:solidFill>
                <a:latin typeface="Montserrat Bold" pitchFamily="34" charset="0"/>
                <a:ea typeface="Montserrat Bold" pitchFamily="34" charset="-122"/>
                <a:cs typeface="Montserrat Bold" pitchFamily="34" charset="-120"/>
              </a:rPr>
              <a:t>1</a:t>
            </a:r>
            <a:endParaRPr lang="en-US" sz="2550" dirty="0"/>
          </a:p>
        </p:txBody>
      </p:sp>
      <p:sp>
        <p:nvSpPr>
          <p:cNvPr id="8" name="Text 5"/>
          <p:cNvSpPr/>
          <p:nvPr/>
        </p:nvSpPr>
        <p:spPr>
          <a:xfrm>
            <a:off x="1105495" y="5862399"/>
            <a:ext cx="2498884" cy="312301"/>
          </a:xfrm>
          <a:prstGeom prst="rect">
            <a:avLst/>
          </a:prstGeom>
          <a:noFill/>
          <a:ln/>
        </p:spPr>
        <p:txBody>
          <a:bodyPr wrap="none" lIns="0" tIns="0" rIns="0" bIns="0" rtlCol="0" anchor="t"/>
          <a:lstStyle/>
          <a:p>
            <a:pPr marL="0" indent="0" algn="l">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Veri İletişimi</a:t>
            </a:r>
            <a:endParaRPr lang="en-US" sz="1950" dirty="0"/>
          </a:p>
        </p:txBody>
      </p:sp>
      <p:sp>
        <p:nvSpPr>
          <p:cNvPr id="9" name="Text 6"/>
          <p:cNvSpPr/>
          <p:nvPr/>
        </p:nvSpPr>
        <p:spPr>
          <a:xfrm>
            <a:off x="1105495" y="6306622"/>
            <a:ext cx="3659267" cy="1012269"/>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highlight>
                  <a:srgbClr val="1E1F20"/>
                </a:highlight>
                <a:latin typeface="Consolas" pitchFamily="34" charset="0"/>
                <a:ea typeface="Consolas" pitchFamily="34" charset="-122"/>
                <a:cs typeface="Consolas" pitchFamily="34" charset="-120"/>
              </a:rPr>
              <a:t>PySerial</a:t>
            </a:r>
            <a:r>
              <a:rPr lang="en-US" sz="1700" dirty="0">
                <a:solidFill>
                  <a:srgbClr val="E2E6E9"/>
                </a:solidFill>
                <a:latin typeface="Source Sans 3" pitchFamily="34" charset="0"/>
                <a:ea typeface="Source Sans 3" pitchFamily="34" charset="-122"/>
                <a:cs typeface="Source Sans 3" pitchFamily="34" charset="-120"/>
              </a:rPr>
              <a:t> kütüphanesi kullanılarak Arduino'dan gelen seri veriler kesintisiz olarak yakalanır.</a:t>
            </a:r>
            <a:endParaRPr lang="en-US" sz="1700" dirty="0"/>
          </a:p>
        </p:txBody>
      </p:sp>
      <p:sp>
        <p:nvSpPr>
          <p:cNvPr id="10" name="Shape 7"/>
          <p:cNvSpPr/>
          <p:nvPr/>
        </p:nvSpPr>
        <p:spPr>
          <a:xfrm>
            <a:off x="5235059" y="4952286"/>
            <a:ext cx="4160163" cy="2616994"/>
          </a:xfrm>
          <a:prstGeom prst="roundRect">
            <a:avLst>
              <a:gd name="adj" fmla="val 1260"/>
            </a:avLst>
          </a:prstGeom>
          <a:solidFill>
            <a:srgbClr val="111213"/>
          </a:solidFill>
          <a:ln w="30480">
            <a:solidFill>
              <a:srgbClr val="494A4B"/>
            </a:solidFill>
            <a:prstDash val="solid"/>
          </a:ln>
        </p:spPr>
      </p:sp>
      <p:sp>
        <p:nvSpPr>
          <p:cNvPr id="11" name="Shape 8"/>
          <p:cNvSpPr/>
          <p:nvPr/>
        </p:nvSpPr>
        <p:spPr>
          <a:xfrm>
            <a:off x="5265539" y="4982766"/>
            <a:ext cx="4099203" cy="659725"/>
          </a:xfrm>
          <a:prstGeom prst="rect">
            <a:avLst/>
          </a:prstGeom>
          <a:solidFill>
            <a:srgbClr val="303132"/>
          </a:solidFill>
          <a:ln/>
        </p:spPr>
      </p:sp>
      <p:sp>
        <p:nvSpPr>
          <p:cNvPr id="12" name="Text 9"/>
          <p:cNvSpPr/>
          <p:nvPr/>
        </p:nvSpPr>
        <p:spPr>
          <a:xfrm>
            <a:off x="7150179" y="5106472"/>
            <a:ext cx="329803" cy="412313"/>
          </a:xfrm>
          <a:prstGeom prst="rect">
            <a:avLst/>
          </a:prstGeom>
          <a:noFill/>
          <a:ln/>
        </p:spPr>
        <p:txBody>
          <a:bodyPr wrap="none" lIns="0" tIns="0" rIns="0" bIns="0" rtlCol="0" anchor="t"/>
          <a:lstStyle/>
          <a:p>
            <a:pPr marL="0" indent="0" algn="l">
              <a:lnSpc>
                <a:spcPts val="2550"/>
              </a:lnSpc>
              <a:buNone/>
            </a:pPr>
            <a:r>
              <a:rPr lang="en-US" sz="2550" b="1" dirty="0">
                <a:solidFill>
                  <a:srgbClr val="E2E6E9"/>
                </a:solidFill>
                <a:latin typeface="Montserrat Bold" pitchFamily="34" charset="0"/>
                <a:ea typeface="Montserrat Bold" pitchFamily="34" charset="-122"/>
                <a:cs typeface="Montserrat Bold" pitchFamily="34" charset="-120"/>
              </a:rPr>
              <a:t>2</a:t>
            </a:r>
            <a:endParaRPr lang="en-US" sz="2550" dirty="0"/>
          </a:p>
        </p:txBody>
      </p:sp>
      <p:sp>
        <p:nvSpPr>
          <p:cNvPr id="13" name="Text 10"/>
          <p:cNvSpPr/>
          <p:nvPr/>
        </p:nvSpPr>
        <p:spPr>
          <a:xfrm>
            <a:off x="5485448" y="5862399"/>
            <a:ext cx="2498884" cy="312301"/>
          </a:xfrm>
          <a:prstGeom prst="rect">
            <a:avLst/>
          </a:prstGeom>
          <a:noFill/>
          <a:ln/>
        </p:spPr>
        <p:txBody>
          <a:bodyPr wrap="none" lIns="0" tIns="0" rIns="0" bIns="0" rtlCol="0" anchor="t"/>
          <a:lstStyle/>
          <a:p>
            <a:pPr marL="0" indent="0" algn="l">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Zaman Damgası</a:t>
            </a:r>
            <a:endParaRPr lang="en-US" sz="1950" dirty="0"/>
          </a:p>
        </p:txBody>
      </p:sp>
      <p:sp>
        <p:nvSpPr>
          <p:cNvPr id="14" name="Text 11"/>
          <p:cNvSpPr/>
          <p:nvPr/>
        </p:nvSpPr>
        <p:spPr>
          <a:xfrm>
            <a:off x="5485448" y="6306622"/>
            <a:ext cx="3659386" cy="1012269"/>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highlight>
                  <a:srgbClr val="1E1F20"/>
                </a:highlight>
                <a:latin typeface="Consolas" pitchFamily="34" charset="0"/>
                <a:ea typeface="Consolas" pitchFamily="34" charset="-122"/>
                <a:cs typeface="Consolas" pitchFamily="34" charset="-120"/>
              </a:rPr>
              <a:t>datetime</a:t>
            </a:r>
            <a:r>
              <a:rPr lang="en-US" sz="1700" dirty="0">
                <a:solidFill>
                  <a:srgbClr val="E2E6E9"/>
                </a:solidFill>
                <a:latin typeface="Source Sans 3" pitchFamily="34" charset="0"/>
                <a:ea typeface="Source Sans 3" pitchFamily="34" charset="-122"/>
                <a:cs typeface="Source Sans 3" pitchFamily="34" charset="-120"/>
              </a:rPr>
              <a:t> modülü ile her veri girişine yıl-ay-gün-saat-dakika-saniye bilgisi eklenir.</a:t>
            </a:r>
            <a:endParaRPr lang="en-US" sz="1700" dirty="0"/>
          </a:p>
        </p:txBody>
      </p:sp>
      <p:sp>
        <p:nvSpPr>
          <p:cNvPr id="15" name="Shape 12"/>
          <p:cNvSpPr/>
          <p:nvPr/>
        </p:nvSpPr>
        <p:spPr>
          <a:xfrm>
            <a:off x="9615130" y="4952286"/>
            <a:ext cx="4160163" cy="2616994"/>
          </a:xfrm>
          <a:prstGeom prst="roundRect">
            <a:avLst>
              <a:gd name="adj" fmla="val 1260"/>
            </a:avLst>
          </a:prstGeom>
          <a:solidFill>
            <a:srgbClr val="111213"/>
          </a:solidFill>
          <a:ln w="30480">
            <a:solidFill>
              <a:srgbClr val="494A4B"/>
            </a:solidFill>
            <a:prstDash val="solid"/>
          </a:ln>
        </p:spPr>
      </p:sp>
      <p:sp>
        <p:nvSpPr>
          <p:cNvPr id="16" name="Shape 13"/>
          <p:cNvSpPr/>
          <p:nvPr/>
        </p:nvSpPr>
        <p:spPr>
          <a:xfrm>
            <a:off x="9645610" y="4982766"/>
            <a:ext cx="4099203" cy="659725"/>
          </a:xfrm>
          <a:prstGeom prst="rect">
            <a:avLst/>
          </a:prstGeom>
          <a:solidFill>
            <a:srgbClr val="303132"/>
          </a:solidFill>
          <a:ln/>
        </p:spPr>
      </p:sp>
      <p:sp>
        <p:nvSpPr>
          <p:cNvPr id="17" name="Text 14"/>
          <p:cNvSpPr/>
          <p:nvPr/>
        </p:nvSpPr>
        <p:spPr>
          <a:xfrm>
            <a:off x="11530251" y="5106472"/>
            <a:ext cx="329803" cy="412313"/>
          </a:xfrm>
          <a:prstGeom prst="rect">
            <a:avLst/>
          </a:prstGeom>
          <a:noFill/>
          <a:ln/>
        </p:spPr>
        <p:txBody>
          <a:bodyPr wrap="none" lIns="0" tIns="0" rIns="0" bIns="0" rtlCol="0" anchor="t"/>
          <a:lstStyle/>
          <a:p>
            <a:pPr marL="0" indent="0" algn="l">
              <a:lnSpc>
                <a:spcPts val="2550"/>
              </a:lnSpc>
              <a:buNone/>
            </a:pPr>
            <a:r>
              <a:rPr lang="en-US" sz="2550" b="1" dirty="0">
                <a:solidFill>
                  <a:srgbClr val="E2E6E9"/>
                </a:solidFill>
                <a:latin typeface="Montserrat Bold" pitchFamily="34" charset="0"/>
                <a:ea typeface="Montserrat Bold" pitchFamily="34" charset="-122"/>
                <a:cs typeface="Montserrat Bold" pitchFamily="34" charset="-120"/>
              </a:rPr>
              <a:t>3</a:t>
            </a:r>
            <a:endParaRPr lang="en-US" sz="2550" dirty="0"/>
          </a:p>
        </p:txBody>
      </p:sp>
      <p:sp>
        <p:nvSpPr>
          <p:cNvPr id="18" name="Text 15"/>
          <p:cNvSpPr/>
          <p:nvPr/>
        </p:nvSpPr>
        <p:spPr>
          <a:xfrm>
            <a:off x="9865519" y="5862399"/>
            <a:ext cx="2498884" cy="312301"/>
          </a:xfrm>
          <a:prstGeom prst="rect">
            <a:avLst/>
          </a:prstGeom>
          <a:noFill/>
          <a:ln/>
        </p:spPr>
        <p:txBody>
          <a:bodyPr wrap="none" lIns="0" tIns="0" rIns="0" bIns="0" rtlCol="0" anchor="t"/>
          <a:lstStyle/>
          <a:p>
            <a:pPr marL="0" indent="0" algn="l">
              <a:lnSpc>
                <a:spcPts val="2450"/>
              </a:lnSpc>
              <a:buNone/>
            </a:pPr>
            <a:r>
              <a:rPr lang="en-US" sz="1950" b="1" dirty="0">
                <a:solidFill>
                  <a:srgbClr val="E2E6E9"/>
                </a:solidFill>
                <a:latin typeface="Montserrat Bold" pitchFamily="34" charset="0"/>
                <a:ea typeface="Montserrat Bold" pitchFamily="34" charset="-122"/>
                <a:cs typeface="Montserrat Bold" pitchFamily="34" charset="-120"/>
              </a:rPr>
              <a:t>Kayıt Sistemi</a:t>
            </a:r>
            <a:endParaRPr lang="en-US" sz="1950" dirty="0"/>
          </a:p>
        </p:txBody>
      </p:sp>
      <p:sp>
        <p:nvSpPr>
          <p:cNvPr id="19" name="Text 16"/>
          <p:cNvSpPr/>
          <p:nvPr/>
        </p:nvSpPr>
        <p:spPr>
          <a:xfrm>
            <a:off x="9865519" y="6306622"/>
            <a:ext cx="3659386" cy="989409"/>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Toplanan veriler bir CSV veya TXT dosyasında saklanarak geçmişe dönük analiz yapma imkanı sunar.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754499"/>
            <a:ext cx="8293894" cy="631031"/>
          </a:xfrm>
          <a:prstGeom prst="rect">
            <a:avLst/>
          </a:prstGeom>
          <a:noFill/>
          <a:ln/>
        </p:spPr>
        <p:txBody>
          <a:bodyPr wrap="none" lIns="0" tIns="0" rIns="0" bIns="0" rtlCol="0" anchor="t"/>
          <a:lstStyle/>
          <a:p>
            <a:pPr marL="0" indent="0" algn="l">
              <a:lnSpc>
                <a:spcPts val="4950"/>
              </a:lnSpc>
              <a:buNone/>
            </a:pPr>
            <a:r>
              <a:rPr lang="en-US" sz="3950" b="1" dirty="0">
                <a:solidFill>
                  <a:srgbClr val="FFFFFF"/>
                </a:solidFill>
                <a:latin typeface="Montserrat Bold" pitchFamily="34" charset="0"/>
                <a:ea typeface="Montserrat Bold" pitchFamily="34" charset="-122"/>
                <a:cs typeface="Montserrat Bold" pitchFamily="34" charset="-120"/>
              </a:rPr>
              <a:t>Sonuç</a:t>
            </a:r>
            <a:r>
              <a:rPr lang="tr-TR" sz="3950" b="1" dirty="0" err="1">
                <a:solidFill>
                  <a:srgbClr val="FFFFFF"/>
                </a:solidFill>
                <a:latin typeface="Montserrat Bold" pitchFamily="34" charset="0"/>
                <a:ea typeface="Montserrat Bold" pitchFamily="34" charset="-122"/>
                <a:cs typeface="Montserrat Bold" pitchFamily="34" charset="-120"/>
              </a:rPr>
              <a:t>lar</a:t>
            </a:r>
            <a:endParaRPr lang="en-US" sz="3950" dirty="0"/>
          </a:p>
        </p:txBody>
      </p:sp>
      <p:sp>
        <p:nvSpPr>
          <p:cNvPr id="3" name="Shape 1"/>
          <p:cNvSpPr/>
          <p:nvPr/>
        </p:nvSpPr>
        <p:spPr>
          <a:xfrm>
            <a:off x="863798" y="1829753"/>
            <a:ext cx="12902803" cy="1459230"/>
          </a:xfrm>
          <a:prstGeom prst="roundRect">
            <a:avLst>
              <a:gd name="adj" fmla="val 2284"/>
            </a:avLst>
          </a:prstGeom>
          <a:solidFill>
            <a:srgbClr val="262626"/>
          </a:solidFill>
          <a:ln/>
        </p:spPr>
      </p:sp>
      <p:pic>
        <p:nvPicPr>
          <p:cNvPr id="4" name="Image 0" descr="preencoded.png"/>
          <p:cNvPicPr>
            <a:picLocks noChangeAspect="1"/>
          </p:cNvPicPr>
          <p:nvPr/>
        </p:nvPicPr>
        <p:blipFill>
          <a:blip r:embed="rId3"/>
          <a:stretch>
            <a:fillRect/>
          </a:stretch>
        </p:blipFill>
        <p:spPr>
          <a:xfrm>
            <a:off x="1085850" y="2130266"/>
            <a:ext cx="315516" cy="252413"/>
          </a:xfrm>
          <a:prstGeom prst="rect">
            <a:avLst/>
          </a:prstGeom>
        </p:spPr>
      </p:pic>
      <p:sp>
        <p:nvSpPr>
          <p:cNvPr id="5" name="Text 2"/>
          <p:cNvSpPr/>
          <p:nvPr/>
        </p:nvSpPr>
        <p:spPr>
          <a:xfrm>
            <a:off x="1623417" y="2107287"/>
            <a:ext cx="2524363" cy="315516"/>
          </a:xfrm>
          <a:prstGeom prst="rect">
            <a:avLst/>
          </a:prstGeom>
          <a:noFill/>
          <a:ln/>
        </p:spPr>
        <p:txBody>
          <a:bodyPr wrap="none" lIns="0" tIns="0" rIns="0" bIns="0" rtlCol="0" anchor="t"/>
          <a:lstStyle/>
          <a:p>
            <a:pPr marL="0" indent="0" algn="l">
              <a:lnSpc>
                <a:spcPts val="2450"/>
              </a:lnSpc>
              <a:buNone/>
            </a:pPr>
            <a:r>
              <a:rPr lang="en-US" sz="1950" b="1" dirty="0">
                <a:solidFill>
                  <a:srgbClr val="FFFFFF"/>
                </a:solidFill>
                <a:latin typeface="Montserrat Bold" pitchFamily="34" charset="0"/>
                <a:ea typeface="Montserrat Bold" pitchFamily="34" charset="-122"/>
                <a:cs typeface="Montserrat Bold" pitchFamily="34" charset="-120"/>
              </a:rPr>
              <a:t>Sistem Avantajları</a:t>
            </a:r>
            <a:endParaRPr lang="en-US" sz="1950" dirty="0"/>
          </a:p>
        </p:txBody>
      </p:sp>
      <p:sp>
        <p:nvSpPr>
          <p:cNvPr id="6" name="Text 3"/>
          <p:cNvSpPr/>
          <p:nvPr/>
        </p:nvSpPr>
        <p:spPr>
          <a:xfrm>
            <a:off x="1623417" y="2644854"/>
            <a:ext cx="11921133" cy="333256"/>
          </a:xfrm>
          <a:prstGeom prst="rect">
            <a:avLst/>
          </a:prstGeom>
          <a:noFill/>
          <a:ln/>
        </p:spPr>
        <p:txBody>
          <a:bodyPr wrap="none" lIns="0" tIns="0" rIns="0" bIns="0" rtlCol="0" anchor="t"/>
          <a:lstStyle/>
          <a:p>
            <a:pPr marL="0" indent="0" algn="l">
              <a:lnSpc>
                <a:spcPts val="2600"/>
              </a:lnSpc>
              <a:buNone/>
            </a:pPr>
            <a:r>
              <a:rPr lang="en-US" sz="1700" dirty="0">
                <a:solidFill>
                  <a:srgbClr val="FFFFFF"/>
                </a:solidFill>
                <a:latin typeface="Source Sans 3" pitchFamily="34" charset="0"/>
                <a:ea typeface="Source Sans 3" pitchFamily="34" charset="-122"/>
                <a:cs typeface="Source Sans 3" pitchFamily="34" charset="-120"/>
              </a:rPr>
              <a:t>Su taşması veya deponun boşalması gibi riskleri minimize eder. Yağmur durumu takibi ile su tasarrufu sağlar.</a:t>
            </a:r>
            <a:endParaRPr lang="en-US" sz="1700" dirty="0"/>
          </a:p>
        </p:txBody>
      </p:sp>
      <p:sp>
        <p:nvSpPr>
          <p:cNvPr id="7" name="Text 4"/>
          <p:cNvSpPr/>
          <p:nvPr/>
        </p:nvSpPr>
        <p:spPr>
          <a:xfrm>
            <a:off x="863798" y="3538895"/>
            <a:ext cx="12902803" cy="666512"/>
          </a:xfrm>
          <a:prstGeom prst="rect">
            <a:avLst/>
          </a:prstGeom>
          <a:noFill/>
          <a:ln/>
        </p:spPr>
        <p:txBody>
          <a:bodyPr wrap="square" lIns="0" tIns="0" rIns="0" bIns="0" rtlCol="0" anchor="t"/>
          <a:lstStyle/>
          <a:p>
            <a:pPr marL="0" indent="0" algn="l">
              <a:lnSpc>
                <a:spcPts val="2600"/>
              </a:lnSpc>
              <a:buNone/>
            </a:pPr>
            <a:r>
              <a:rPr lang="en-US" sz="1700" dirty="0">
                <a:solidFill>
                  <a:srgbClr val="E2E6E9"/>
                </a:solidFill>
                <a:latin typeface="Source Sans 3" pitchFamily="34" charset="0"/>
                <a:ea typeface="Source Sans 3" pitchFamily="34" charset="-122"/>
                <a:cs typeface="Source Sans 3" pitchFamily="34" charset="-120"/>
              </a:rPr>
              <a:t>Bu proje, endüstriyel tesislerden tarımsal sulama alanlarına kadar geniş bir yelpazede yenilikçi ve düşük maliyetli bir su yönetim çözümü sunmaktadır.</a:t>
            </a:r>
            <a:endParaRPr lang="en-US" sz="1700" dirty="0"/>
          </a:p>
        </p:txBody>
      </p:sp>
      <p:pic>
        <p:nvPicPr>
          <p:cNvPr id="8" name="Image 1" descr="preencoded.png"/>
          <p:cNvPicPr>
            <a:picLocks noChangeAspect="1"/>
          </p:cNvPicPr>
          <p:nvPr/>
        </p:nvPicPr>
        <p:blipFill>
          <a:blip r:embed="rId4"/>
          <a:stretch>
            <a:fillRect/>
          </a:stretch>
        </p:blipFill>
        <p:spPr>
          <a:xfrm>
            <a:off x="871418" y="4598432"/>
            <a:ext cx="4177427" cy="2665690"/>
          </a:xfrm>
          <a:prstGeom prst="rect">
            <a:avLst/>
          </a:prstGeom>
        </p:spPr>
      </p:pic>
      <p:pic>
        <p:nvPicPr>
          <p:cNvPr id="9" name="Image 2" descr="preencoded.png"/>
          <p:cNvPicPr>
            <a:picLocks noChangeAspect="1"/>
          </p:cNvPicPr>
          <p:nvPr/>
        </p:nvPicPr>
        <p:blipFill>
          <a:blip r:embed="rId5"/>
          <a:stretch>
            <a:fillRect/>
          </a:stretch>
        </p:blipFill>
        <p:spPr>
          <a:xfrm>
            <a:off x="5226487" y="4598432"/>
            <a:ext cx="4177427" cy="2665690"/>
          </a:xfrm>
          <a:prstGeom prst="rect">
            <a:avLst/>
          </a:prstGeom>
        </p:spPr>
      </p:pic>
      <p:pic>
        <p:nvPicPr>
          <p:cNvPr id="10" name="Image 3" descr="preencoded.png"/>
          <p:cNvPicPr>
            <a:picLocks noChangeAspect="1"/>
          </p:cNvPicPr>
          <p:nvPr/>
        </p:nvPicPr>
        <p:blipFill>
          <a:blip r:embed="rId6"/>
          <a:stretch>
            <a:fillRect/>
          </a:stretch>
        </p:blipFill>
        <p:spPr>
          <a:xfrm>
            <a:off x="9581555" y="4598432"/>
            <a:ext cx="4177427" cy="2665690"/>
          </a:xfrm>
          <a:prstGeom prst="rect">
            <a:avLst/>
          </a:prstGeom>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152</TotalTime>
  <Words>338</Words>
  <Application>Microsoft Office PowerPoint</Application>
  <PresentationFormat>Özel</PresentationFormat>
  <Paragraphs>44</Paragraphs>
  <Slides>5</Slides>
  <Notes>5</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5</vt:i4>
      </vt:variant>
    </vt:vector>
  </HeadingPairs>
  <TitlesOfParts>
    <vt:vector size="12" baseType="lpstr">
      <vt:lpstr>Montserrat Bold</vt:lpstr>
      <vt:lpstr>Arial</vt:lpstr>
      <vt:lpstr>Source Sans 3</vt:lpstr>
      <vt:lpstr>Calibri</vt:lpstr>
      <vt:lpstr>Consolas</vt:lpstr>
      <vt:lpstr>Calibri Light</vt:lpstr>
      <vt:lpstr>Office 2013 - 2022 Theme</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subject/>
  <dc:creator/>
  <cp:lastModifiedBy>Yunus Emre Temel</cp:lastModifiedBy>
  <cp:revision>11</cp:revision>
  <dcterms:created xsi:type="dcterms:W3CDTF">2025-12-24T18:02:34Z</dcterms:created>
  <dcterms:modified xsi:type="dcterms:W3CDTF">2025-12-29T17:43:14Z</dcterms:modified>
</cp:coreProperties>
</file>